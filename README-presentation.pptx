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9"/>
    <p:restoredTop sz="94677"/>
  </p:normalViewPr>
  <p:slideViewPr>
    <p:cSldViewPr snapToGrid="0" snapToObjects="1">
      <p:cViewPr varScale="1">
        <p:scale>
          <a:sx n="148" d="100"/>
          <a:sy n="148" d="100"/>
        </p:scale>
        <p:origin x="216" y="1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806EF-E8D3-4F50-FE9C-67A09378188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2525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A1A1A"/>
                </a:solidFill>
              </a:rPr>
              <a:t>1.  The Problem — why manual assessment doesn't scale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2.  Solution Overview — the AI-driven health check pipeline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3.  Architecture — how MCP, CIRCUIT LLM &amp; CAT work together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4.  LLM Role — what the AI does at each stage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5.  Why LLM is the right approach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6.  Live Demo — run, </a:t>
            </a:r>
            <a:r>
              <a:rPr sz="1700" b="0" dirty="0" err="1">
                <a:solidFill>
                  <a:srgbClr val="1A1A1A"/>
                </a:solidFill>
              </a:rPr>
              <a:t>analyse</a:t>
            </a:r>
            <a:r>
              <a:rPr sz="1700" b="0" dirty="0">
                <a:solidFill>
                  <a:srgbClr val="1A1A1A"/>
                </a:solidFill>
              </a:rPr>
              <a:t>, chart, Q&amp;A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7.  Key Outcomes — measured results</a:t>
            </a:r>
          </a:p>
          <a:p>
            <a:pPr algn="l"/>
            <a:r>
              <a:rPr sz="1700" b="0" dirty="0">
                <a:solidFill>
                  <a:srgbClr val="1A1A1A"/>
                </a:solidFill>
              </a:rPr>
              <a:t>8.  Setup &amp;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 — Manual Assessment Doesn't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02920" cy="21945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1887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Time-to-insight is too slow — multi-tab Excel &amp; PowerPoint require 30–60 min of manual review before any recommendation reaches the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57784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02920" cy="21945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1887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Expertise barrier is high — deep AppDynamics API knowledge and maturity-model familiarity don't scale across the entire CS org.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57784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502920" cy="21945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Reports go stale and get lost — assessment outputs are rarely archived consistently; trend analysis is nearly impossible.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566160"/>
            <a:ext cx="557784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502920" cy="21945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1148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7033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Follow-up questions restart the cycle — every clarifying question ('Which apps are blocking Gold tier?') triggers another manual report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80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858"/>
                </a:solidFill>
              </a:rPr>
              <a:t>Result: observability data that exists but doesn't flow. The gap between raw telemetry and business-level guidance stays wide — and expensive.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Solution — AI-Driven Health Check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Automates the full assessment lifecycle — from metric collection to report delivery to conversational Q&amp;A — using: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743200" cy="292608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673352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9FCC"/>
                </a:solidFill>
              </a:rPr>
              <a:t>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31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 Context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880360"/>
            <a:ext cx="25237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Structured tool-calling between LLM and backend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508760"/>
            <a:ext cx="2743200" cy="292608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673352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9FCC"/>
                </a:solidFill>
              </a:rPr>
              <a:t>CIRCUIT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Cisco's internal AI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80360"/>
            <a:ext cx="25237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Secure, on-network reasoning; no data leaves Cisco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1508760"/>
            <a:ext cx="2743200" cy="292608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1673352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9FCC"/>
                </a:solidFill>
              </a:rPr>
              <a:t>CAT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331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Config Assessment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880360"/>
            <a:ext cx="25237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Deterministic AppDynamics API extraction + Excel/PPT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1508760"/>
            <a:ext cx="2743200" cy="292608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15984" y="1673352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9FCC"/>
                </a:solidFill>
              </a:rPr>
              <a:t>Knowledge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331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Persistent context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2880360"/>
            <a:ext cx="25237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Historical reports feed cumulative cross-run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858"/>
                </a:solidFill>
              </a:rPr>
              <a:t>Every run is archived to SharePoint. Report data is injected into LLM context for instant conversational Q&amp;A — no re-running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— Advanced Health Check &amp; LLM Insight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pic>
        <p:nvPicPr>
          <p:cNvPr id="7" name="Picture 6" descr="architecture_diagram_advanced_health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91440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the LLM Powers Each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14400"/>
          <a:ext cx="1152143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005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Happens</a:t>
                      </a:r>
                    </a:p>
                  </a:txBody>
                  <a:tcPr>
                    <a:solidFill>
                      <a:srgbClr val="005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LLM's Role</a:t>
                      </a:r>
                    </a:p>
                  </a:txBody>
                  <a:tcPr>
                    <a:solidFill>
                      <a:srgbClr val="005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1 —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</a:rPr>
                        <a:t>User asks for a health check in plain 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Parses intent, identifies target environment &amp; job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2 — Orchestration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CIRCUIT hands off a structured tool call to the MCP Server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Selects the correct MCP tool and arguments autonomously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3 —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Health Endpoints Engine queries AppDynamics Controller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 deterministic engine 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4 — Report Gen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Engine produces Excel and PowerPoint reports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— deterministic engine —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5 — Archiving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Archive Agent saves reports to SharePoint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LLM can trigger archiving in the same conversation 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6 — Knowledge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Report data is scraped and fed into the LLM's context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Builds cumulative understanding across runs and customers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7 —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Reports attached to CIRCUIT prompt, available for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Narrates key findings and highlights critical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8 — Q&amp;A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</a:rPr>
                        <a:t>User asks follow-up questions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</a:rPr>
                        <a:t>Answers from loaded context — no re-running any tools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LLM is the Right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39496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5394960" cy="45720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Tool-Use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CIRCUIT receives the full MCP tool schema at session start and autonomously decides which tool to call, when, and with what arguments — no scripting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39496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5394960" cy="45720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Structured → Natural 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Dense multi-sheet Excel data (maturity scores, agent matrices, threshold breaches) is converted into concise, human-readable summaries and prioritised recommendations.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74720"/>
            <a:ext cx="539496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474720"/>
            <a:ext cx="5394960" cy="45720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Persistent Knowledge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Each run feeds the LLM's context, enabling cross-run and cross-customer pattern recognition that no single-session tool can provide.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474720"/>
            <a:ext cx="5394960" cy="2194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474720"/>
            <a:ext cx="5394960" cy="45720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Conversational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23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The full report is injected into context once. Follow-up questions are answered from memory — no re-running, no re-downloading.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Live Demo — Assessment to Insight in One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566160" cy="19659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24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554480"/>
            <a:ext cx="3419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011680"/>
            <a:ext cx="3419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</a:rPr>
              <a:t>User: "Run health check for DefaultJob"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051560"/>
            <a:ext cx="3566160" cy="196596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124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1554480"/>
            <a:ext cx="3419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Instant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2011680"/>
            <a:ext cx="3419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CIRCUIT: Overall APM maturity is 68% (Silver). 3 apps blocked from Gold.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1051560"/>
            <a:ext cx="3566160" cy="19659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1124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2" y="1554480"/>
            <a:ext cx="3419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Drill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2" y="2011680"/>
            <a:ext cx="3419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</a:rPr>
              <a:t>User: "Which apps are furthest from Gold?"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54680"/>
            <a:ext cx="3566160" cy="196596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227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3657600"/>
            <a:ext cx="3419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4114800"/>
            <a:ext cx="3419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CIRCUIT answers from loaded context — no tool re-run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154680"/>
            <a:ext cx="3566160" cy="196596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3227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3657600"/>
            <a:ext cx="3419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Archive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4114800"/>
            <a:ext cx="3419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</a:rPr>
              <a:t>User: "Archive this and send the download link"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80" y="3154680"/>
            <a:ext cx="3566160" cy="1965960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3227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3657600"/>
            <a:ext cx="3419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2" y="4114800"/>
            <a:ext cx="3419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CIRCUIT: Report archived to SharePoint. Download link: https://...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85858"/>
                </a:solidFill>
              </a:rPr>
              <a:t>Tip: the LLM answers follow-up questions from in-context memory — no re-running, no re-downloading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Outcomes — Measured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749039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097280" cy="1874519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CC"/>
                </a:solidFill>
              </a:rPr>
              <a:t>10×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078992"/>
            <a:ext cx="248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73"/>
                </a:solidFill>
              </a:rPr>
              <a:t>Faster Time-to-Insight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508760"/>
            <a:ext cx="2487167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Results previously requiring 30–60 min of manual Excel review
summarised in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19" y="1005840"/>
            <a:ext cx="3749039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19" y="1005840"/>
            <a:ext cx="1097280" cy="1874519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39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CC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1" y="1078992"/>
            <a:ext cx="248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73"/>
                </a:solidFill>
              </a:rPr>
              <a:t>Tool Expertise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1508760"/>
            <a:ext cx="2487167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Any CS engineer or SA can request a health check and receive
consultant-grade guidance via natural language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998" y="1005840"/>
            <a:ext cx="3749039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0998" y="1005840"/>
            <a:ext cx="1097280" cy="1874519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8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CC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0" y="1078992"/>
            <a:ext cx="248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73"/>
                </a:solidFill>
              </a:rPr>
              <a:t>Automated Archiving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0" y="1508760"/>
            <a:ext cx="2487167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Every run saved to SharePoint via Archive Agent —
searchable, time-stamped, zero manual effort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71799"/>
            <a:ext cx="3749039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971799"/>
            <a:ext cx="1097280" cy="1874519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428999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CC"/>
                </a:solidFill>
              </a:rPr>
              <a:t>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3044951"/>
            <a:ext cx="248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73"/>
                </a:solidFill>
              </a:rPr>
              <a:t>Cumulative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474719"/>
            <a:ext cx="2487167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Report data feeds the LLM knowledge base enabling
cross-run trend &amp; cross-customer pattern recognition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19" y="2971799"/>
            <a:ext cx="3749039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0519" y="2971799"/>
            <a:ext cx="1097280" cy="1874519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39" y="3428999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CC"/>
                </a:solidFill>
              </a:rPr>
              <a:t>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1" y="3044951"/>
            <a:ext cx="248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73"/>
                </a:solidFill>
              </a:rPr>
              <a:t>Context Load, Any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0951" y="3474719"/>
            <a:ext cx="2487167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The full report is injected into context once;
all follow-up Q&amp;A answered from 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0998" y="2971799"/>
            <a:ext cx="3749039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00998" y="2971799"/>
            <a:ext cx="1097280" cy="1874519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8" y="3428999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CC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0" y="3044951"/>
            <a:ext cx="248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73"/>
                </a:solidFill>
              </a:rPr>
              <a:t>Cisco-Native &amp; Secure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0" y="3474719"/>
            <a:ext cx="2487167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Runs entirely over CIRCUIT (Cisco's internal AI gateway) —
all data stays on-network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77724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Setup &amp; Quick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Cisco CX Hackathon 2026  ·  CS-IC-62  ·  Bridging the Observability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273"/>
                </a:solidFill>
              </a:rPr>
              <a:t>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✓  Python 3.12+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✓  Cisco CIRCUIT LLM API credentials (app key, client ID, client secret)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✓  AppDynamics controller + a CAT job file in input/jobs/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601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273"/>
                </a:solidFill>
              </a:rPr>
              <a:t>5 Steps to First Insight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457200" cy="45720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138988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git clone &lt;repo&gt; &amp;&amp; cd &lt;repo&gt;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29968"/>
            <a:ext cx="457200" cy="45720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204825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pip install pipenv &amp;&amp; pipenv install &amp;&amp; pipenv shell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688336"/>
            <a:ext cx="457200" cy="45720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70662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34056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Copy properties.py.template → properties.py  and fill in CIRCUIT credentials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346704"/>
            <a:ext cx="457200" cy="45720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33649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92424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Create input/jobs/DefaultJob.json with your controller URL + credentials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005072"/>
            <a:ext cx="457200" cy="457200"/>
          </a:xfrm>
          <a:prstGeom prst="rect">
            <a:avLst/>
          </a:prstGeom>
          <a:solidFill>
            <a:srgbClr val="0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40233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50792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python mcp_llm_client.py  — and start chatting!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273"/>
                </a:solidFill>
              </a:rPr>
              <a:t>Key Environment 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$  CIRCUIT_LLM_API_APP_KEY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$  CIRCUIT_LLM_API_CLIENT_ID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$  CIRCUIT_LLM_API_CLIENT_SECRET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$  CIRCUIT_LLM_API_MODEL_NAME   (e.g. gpt-5-nano)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1082</Words>
  <Application>Microsoft Macintosh PowerPoint</Application>
  <PresentationFormat>Custom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Afshar (aleafsha)</cp:lastModifiedBy>
  <cp:revision>2</cp:revision>
  <dcterms:created xsi:type="dcterms:W3CDTF">2013-01-27T09:14:16Z</dcterms:created>
  <dcterms:modified xsi:type="dcterms:W3CDTF">2026-06-23T16:43:42Z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